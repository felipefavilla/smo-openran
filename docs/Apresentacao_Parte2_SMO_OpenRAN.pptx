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5806440"/>
            <a:ext cx="12191695" cy="1051560"/>
          </a:xfrm>
          <a:prstGeom prst="roundRect">
            <a:avLst>
              <a:gd name="adj" fmla="val 0"/>
            </a:avLst>
          </a:prstGeom>
          <a:solidFill>
            <a:srgbClr val="3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1874519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9FB4D6"/>
                </a:solidFill>
                <a:latin typeface="Calibri"/>
              </a:rPr>
              <a:t>GESTÃO, ORQUESTRAÇÃO E AUTOMAÇÃO EM REDES OPENRAN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Provisionamento e gerenciamento de uma
pilha Open RAN utilizando 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6908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9FB4D6"/>
                </a:solidFill>
                <a:latin typeface="Calibri"/>
              </a:rPr>
              <a:t>Parte 2 — implementação, operação e análise dos mecanismos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0060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8D3E6"/>
                </a:solidFill>
                <a:latin typeface="Calibri"/>
              </a:rPr>
              <a:t>Integrantes: Charles Siqueira Xavier, Felipe Bartholo Favilla,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8D3E6"/>
                </a:solidFill>
                <a:latin typeface="Calibri"/>
              </a:rPr>
              <a:t>Luciano Augusto Campagnoli da Silva, Thiago Bezerra Coellho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Setembro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126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C8D3E6"/>
                </a:solidFill>
                <a:latin typeface="Calibri"/>
              </a:rPr>
              <a:t>github.com/felipefavilla/smo-openran-parte2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De onde partimos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A escolha da Parte 1 e o que a Parte 2 precisava provar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6868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3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Ferramenta escolhida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SMO da O-RAN Software Community: módulo OAM para a interface O1 e Non-RT RIC para a A1, na M-Release de dezembro de 2025.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1772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2E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Estratégia recomendada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Começar pelo perfil leve com escopo O1/OAM, validar coleta e configuração, e só então incluir o Non-RT RIC. Cumprida integralmente.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36676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O que a Parte 2 exige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Provisionar, gerenciar e acompanhar uma pilha Open RAN — e analisar os mecanismos de gestão, orquestração e operação empregados.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diferença desta etapa: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A Parte 1 analisou o que a plataforma documenta. A Parte 2 mostra o que ela faz quando colocada em operação — inclusive onde foi preciso divergir da distribuição oficial.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O que foi implantado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Dez imagens oficiais da O-RAN SC e do ONAP, mais um portal próprio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760720"/>
                <a:gridCol w="3749039"/>
              </a:tblGrid>
              <a:tr h="3771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Camada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Serviço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Imagem oficial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SMO / OAM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controller — SDN-R (OpenDaylight), cliente NETCONF da O1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sdnr-image:13.0.1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SMO / OAM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odlux — interface web oficial do controlador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sdnr-web-image:13.0.1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SMO / OAM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ves-collector — ingestão de eventos da O1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vescollector:1.12.5 (ONAP)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Mensageria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kafka + zookeeper — barramento de eventos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strimzi/kafka:0.35.0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Rede gerenciada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o-du-1, o-ru-1, o-ru-2 — funções de rede simuladas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nts-ng-*:1.8.1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Non-RT RIC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a1-pms + near-rt-ric — interface A1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a1-policy-mgmt:2.3.1 · a1-simulator:2.2.0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Operação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smo-portal — portal deste trabalho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construída localmente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Linha divisória: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Tudo que executa funções de SMO é software oficial. O portal apenas consome as APIs desses componentes — não reimplementa nenhuma função de gerência.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Arquitetura implantada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Cinco camadas e os caminhos de dados entre 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6070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                    ┌──────────────────────────────────────────┐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                    │            Portal SMO (8080)             │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                    │  operação · telemetria · políticas · LCM │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                    └───┬───────────┬────────────┬─────────────┘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              RESTCONF  │    Kafka  │      REST  │   Docker API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                        ▼           ▼            ▼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┌──────────────────────────┐  ┌───────────┐  ┌──────────────────┐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│  SDN-R / OpenDaylight    │  │   Kafka   │  │  A1 Policy Mgmt  │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│  cliente NETCONF da O1   │  │ (tópicos  │  │     Service      │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│  + ODLUX (8181)          │  │   VES)    │  │      (8484)      │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└────┬──────────────┬──────┘  └─────▲─────┘  └────────┬─────────┘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     │ NETCONF      │ mountpoint-   │ publica     A1  ▼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     │ (edit-config)│ registrar     │          ┌──────────────┐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     │              └───────────┐   │          │ Near-RT RIC  │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     ▼                          │   │          │  (sim, 8585) │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┌──────────────────────────┐    │  ┌┴──────────┴──┐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│ o-du-1 · o-ru-1 · o-ru-2 │────┼─▶│ VES Collector │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│ (NTS-NG, interface O1)   │ VES│  │    (8383)     │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1F2A44"/>
                </a:solidFill>
                <a:latin typeface="Consolas"/>
              </a:rPr>
              <a:t>      └──────────────────────────┘    └──── registro de PNF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Os três elementos conectaram-se anunciando 33, 84 e 84 módulos YANG, além de 13 capacidades de protocolo cada.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Como um elemento entra sob gestão do SMO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O mecanismo mais característico da solução: descoberta automática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1. Registro. </a:t>
            </a:r>
            <a:r>
              <a:rPr sz="1400">
                <a:solidFill>
                  <a:srgbClr val="444F66"/>
                </a:solidFill>
                <a:latin typeface="Calibri"/>
              </a:rPr>
              <a:t>A função de rede sobe e envia um evento VES de registro de PNF ao coletor.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2. Publicação. </a:t>
            </a:r>
            <a:r>
              <a:rPr sz="1400">
                <a:solidFill>
                  <a:srgbClr val="444F66"/>
                </a:solidFill>
                <a:latin typeface="Calibri"/>
              </a:rPr>
              <a:t>O coletor valida o evento e o publica no tópico VES_PNFREG_OUTPUT do Kafka.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3. Montagem. </a:t>
            </a:r>
            <a:r>
              <a:rPr sz="1400">
                <a:solidFill>
                  <a:srgbClr val="444F66"/>
                </a:solidFill>
                <a:latin typeface="Calibri"/>
              </a:rPr>
              <a:t>O mountpoint-registrar do SDN-R consome o tópico e grava o nó NETCONF com endereço, porta e credenciais.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4. Descoberta de capacidade. </a:t>
            </a:r>
            <a:r>
              <a:rPr sz="1400">
                <a:solidFill>
                  <a:srgbClr val="444F66"/>
                </a:solidFill>
                <a:latin typeface="Calibri"/>
              </a:rPr>
              <a:t>O OpenDaylight abre a sessão NETCONF e lê os módulos YANG que o elemento anuncia.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5. Provisionamento. </a:t>
            </a:r>
            <a:r>
              <a:rPr sz="1400">
                <a:solidFill>
                  <a:srgbClr val="444F66"/>
                </a:solidFill>
                <a:latin typeface="Calibri"/>
              </a:rPr>
              <a:t>O SMO aplica o perfil de dia 1 pela O1, e a telemetria começa a fluir.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 que isso demonstra: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Nenhuma etapa exige intervenção manual ou conhecimento prévio do elemento: o SMO descobre, monta e configura. É o gerenciamento de configuração da interface O1 na prática.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Provisionamento executado pelo SMO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Os elementos conectam — mas não reportam nada até serem configurados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6868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3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O achado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Os simuladores sobem com os parâmetros de telemetria vazios. Conectam pela O1 e não emitem heartbeat, falha nem medição alguma.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1772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2E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O que o modelo diz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O YANG do O-DU é explícito: "para ativar a produção da medição, o SMO precisa criar uma instância de performance-measurement-job".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36676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A resposta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O portal aplica um perfil de dia 1 a cada elemento que conecta — cinco edit-config no O-DU, três nos O-RU, cada um com releitura de confirmação.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Seletividade: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Cada item do perfil declara o módulo YANG de que depende; só é aplicado a elementos que anunciam esse módulo. O job de medição é montado a partir das células que o elemento expõe.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Interface O1 — gerenciamento de configuração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RESTCONF ao norte, NETCONF ao sul, mediados pelo SDN-R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50292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Operação na interface norte (RESTCONF)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Operação emitida ao elemento (NETCONF)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GET .../yang-ext:mount/&lt;caminho&gt;?content=config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&lt;get-config&gt; no datastore running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GET ...?content=nonconfig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&lt;get&gt; no datastore operational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PUT .../yang-ext:mount/&lt;caminho&gt;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&lt;edit-config&gt; com substituição do ramo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DELETE .../yang-ext:mount/&lt;caminho&gt;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&lt;edit-config&gt; com operação de remoção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794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44F66"/>
                </a:solidFill>
                <a:latin typeface="Calibri"/>
              </a:rPr>
              <a:t>Verificação por ida e volta: alterando o período de heartbeat de um O-RU de 30 para 20 segundos, o controlador respondeu HTTP 204 e a releitura devolveu o novo valor — a escrita chegou ao elemento e foi aplicada, não apenas aceita pelo controlador.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Detalhe que confunde: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HTTP 409 com data-missing não significa módulo desconhecido, mas ramo sem dado gravado. E a leitura de um nó de alto nível pode podar listas de estado que só aparecem no nó filho.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Coleta e barramento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Um caminho único: VES → validação → tópico Kafka por domínio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3108960"/>
                <a:gridCol w="28346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Tópico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Conteúdo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Quem consome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VES_PNFREG_OUTPUT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registro de funções de rede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mountpoint-registrar e portal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SEC_FAULT_OUTPUT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eventos de falha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portal (gerenciamento de falhas)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SEC_HEARTBEAT_OUTPUT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sinais de vida periódicos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portal (supervisão)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VES_O_RAN_SC_HELLO_WORLD_PM_STREAMING_OUTPUT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medições de desempenho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portal (KPIs)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VES_MEASUREMENT_OUTPUT · VES_FILE_READY_OUTPUT · SEC_3GPP_* · SEC_OTHER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demais domínios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F6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29768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Mudança na M-Release: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48056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O DMaaP Message Router foi abandonado; o coletor publica direto no Kafka. Os arquivos de configuração ainda trazem URLs no formato antigo, mas só o nome do tópico é usado.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44F66"/>
                </a:solidFill>
                <a:latin typeface="Calibri"/>
              </a:rPr>
              <a:t>Em uma hora de operação: 10 registros de PNF, 271 heartbeats, 174 eventos de falha e 31 relatórios de medição.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Falhas e telemetria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Alarmes correntes e séries de KPI construídos a partir do fluxo 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falhas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440680" cy="3778250"/>
          </a:xfrm>
          <a:prstGeom prst="rect">
            <a:avLst/>
          </a:prstGeom>
          <a:ln w="9525">
            <a:solidFill>
              <a:srgbClr val="C7CDD6"/>
            </a:solidFill>
          </a:ln>
        </p:spPr>
      </p:pic>
      <p:pic>
        <p:nvPicPr>
          <p:cNvPr id="8" name="Picture 7" descr="desempenh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737360"/>
            <a:ext cx="4972049" cy="3977639"/>
          </a:xfrm>
          <a:prstGeom prst="rect">
            <a:avLst/>
          </a:prstGeom>
          <a:ln w="9525">
            <a:solidFill>
              <a:srgbClr val="C7CDD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Alarme encerrado automaticamente quando o elemento reenvia a condição com severidade NORMAL. KPIs de vazão por célula a cada 30 s, em kbit/s.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Políticas A1 no Non-RT 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Ciclo completo verificado: tipo, instância, entrega e remoção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6949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 b="1">
                <a:solidFill>
                  <a:srgbClr val="1F2A44"/>
                </a:solidFill>
                <a:latin typeface="Calibri"/>
              </a:rPr>
              <a:t>Carga do tipo. </a:t>
            </a:r>
            <a:r>
              <a:rPr sz="1300">
                <a:solidFill>
                  <a:srgbClr val="444F66"/>
                </a:solidFill>
                <a:latin typeface="Calibri"/>
              </a:rPr>
              <a:t>O simulador sobe sem tipos definidos — nada a instanciar até que um tipo seja carregado no RIC.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 b="1">
                <a:solidFill>
                  <a:srgbClr val="1F2A44"/>
                </a:solidFill>
                <a:latin typeface="Calibri"/>
              </a:rPr>
              <a:t>Sincronização. </a:t>
            </a:r>
            <a:r>
              <a:rPr sz="1300">
                <a:solidFill>
                  <a:srgbClr val="444F66"/>
                </a:solidFill>
                <a:latin typeface="Calibri"/>
              </a:rPr>
              <a:t>O A1 Policy Management Service passa a listar o tipo poucos segundos depois.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 b="1">
                <a:solidFill>
                  <a:srgbClr val="1F2A44"/>
                </a:solidFill>
                <a:latin typeface="Calibri"/>
              </a:rPr>
              <a:t>Criação. </a:t>
            </a:r>
            <a:r>
              <a:rPr sz="1300">
                <a:solidFill>
                  <a:srgbClr val="444F66"/>
                </a:solidFill>
                <a:latin typeface="Calibri"/>
              </a:rPr>
              <a:t>Instância criada pelo Non-RT RIC, com resposta HTTP 201.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 b="1">
                <a:solidFill>
                  <a:srgbClr val="1F2A44"/>
                </a:solidFill>
                <a:latin typeface="Calibri"/>
              </a:rPr>
              <a:t>Confirmação no RIC. </a:t>
            </a:r>
            <a:r>
              <a:rPr sz="1300">
                <a:solidFill>
                  <a:srgbClr val="444F66"/>
                </a:solidFill>
                <a:latin typeface="Calibri"/>
              </a:rPr>
              <a:t>A política foi localizada no próprio Near-RT RIC — entrega pela A1, não apenas registro.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 b="1">
                <a:solidFill>
                  <a:srgbClr val="1F2A44"/>
                </a:solidFill>
                <a:latin typeface="Calibri"/>
              </a:rPr>
              <a:t>Remoção. </a:t>
            </a:r>
            <a:r>
              <a:rPr sz="1300">
                <a:solidFill>
                  <a:srgbClr val="444F66"/>
                </a:solidFill>
                <a:latin typeface="Calibri"/>
              </a:rPr>
              <a:t>Ciclo de vida encerrado com HTTP 204.</a:t>
            </a:r>
          </a:p>
        </p:txBody>
      </p:sp>
      <p:pic>
        <p:nvPicPr>
          <p:cNvPr id="8" name="Picture 7" descr="politicas-a1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752" y="1737360"/>
            <a:ext cx="3607495" cy="2926080"/>
          </a:xfrm>
          <a:prstGeom prst="rect">
            <a:avLst/>
          </a:prstGeom>
          <a:ln w="9525">
            <a:solidFill>
              <a:srgbClr val="C7CDD6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Detalhe de operação: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O simulador exige o tipo embrulhado em uma estrutura com nome, descrição, identificador e esquema de criação — e não o esquema JSON isolado.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Ciclo de vida de Network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E o acoplamento observável com a interface 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6868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3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No perfil leve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O ciclo de vida se resume a iniciar, monitorar e encerrar contêineres. Não há orquestrador de funções de rede na distribuição Docker Compose.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1772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2E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O que se observa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Ao parar um O-RU, o mountpoint NETCONF deixa o estado connected em segundos e a aresta O1 muda de cor no diagrama de topologia.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36676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Ao reiniciar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O ciclo completo de registro por VES e remontagem se repete sem ação manual — o SMO mantém um modelo vivo da rede, não um inventário estático.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Perfil completo: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Em Kubernetes o ciclo de vida passaria a Helm; sobre O-Cloud, à função O2dms. Ambos fora do escopo desta implantação, como a Parte 1 já antecipava.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O portal de operação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Oito telas, uma para cada mecanismo do objeto de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visao-gera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69" y="1737360"/>
            <a:ext cx="6049701" cy="4480560"/>
          </a:xfrm>
          <a:prstGeom prst="rect">
            <a:avLst/>
          </a:prstGeom>
          <a:ln w="9525">
            <a:solidFill>
              <a:srgbClr val="C7CDD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1828800"/>
            <a:ext cx="4023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Visão geral · Inventário e topologia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Provisionamento O1 · Falhas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Desempenho · Políticas A1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Ciclo de vida de NF · Ajuda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840480"/>
            <a:ext cx="4023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Backend com duas dependências; frontend sem etapa de compilação e sem CDN — funciona offline.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Paleta de séries validada para daltonismo e contraste nos temas claro e escuro. Cores de estado sempre acompanhadas de ícone e rótulo.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Sem banco de dados: os dados persistentes vivem nos componentes oficiais.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O que precisou divergir do compose oficial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Quatro condições para que a pilha funcionasse — e o que elas revelam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754880"/>
                <a:gridCol w="3291840"/>
              </a:tblGrid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Problema encontrado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Causa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Solução adotada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Controlador sempre "unhealthy"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A verificação oficial usa /ready, endpoint da camada SDNC do ONAP, ausente em modo SDNRONLY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Verificar o próprio RESTCONF da topologia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Elementos montados sem estado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NETCONF Call Home e registro por VES ativos ao mesmo tempo montam o dispositivo duas vezes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Usar apenas o registro por VES, o fluxo canônico da OSC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O-RU invisível para o SMO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Falha de segmentação do simulador ao validar o-ran-usermgmt durante datastore-populate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Desativar essa etapa nos O-RU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A1 PMS sempre "unhealthy"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A imagem não traz curl nem wget, ferramentas que sua própria verificação presumia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Reescrever a verificação com /dev/tcp do bash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 padrão: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Nenhum era defeito funcional de um módulo. Todos eram problemas de montagem — e é neles que o tempo de uma implantação real se concentra.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Verificação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Roteiro executável, versionado junto ao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Saúde da pilha. </a:t>
            </a:r>
            <a:r>
              <a:rPr sz="1400">
                <a:solidFill>
                  <a:srgbClr val="444F66"/>
                </a:solidFill>
                <a:latin typeface="Calibri"/>
              </a:rPr>
              <a:t>Nenhum serviço em estado unhealthy.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O1 — descoberta. </a:t>
            </a:r>
            <a:r>
              <a:rPr sz="1400">
                <a:solidFill>
                  <a:srgbClr val="444F66"/>
                </a:solidFill>
                <a:latin typeface="Calibri"/>
              </a:rPr>
              <a:t>3 elementos montados, com 33 e 84 módulos YANG anunciados.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O1 — configuração. </a:t>
            </a:r>
            <a:r>
              <a:rPr sz="1400">
                <a:solidFill>
                  <a:srgbClr val="444F66"/>
                </a:solidFill>
                <a:latin typeface="Calibri"/>
              </a:rPr>
              <a:t>Leitura HTTP 200; escrita HTTP 204 confirmada por releitura do datastore.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O1 — telemetria. </a:t>
            </a:r>
            <a:r>
              <a:rPr sz="1400">
                <a:solidFill>
                  <a:srgbClr val="444F66"/>
                </a:solidFill>
                <a:latin typeface="Calibri"/>
              </a:rPr>
              <a:t>8 tópicos VES criados pelo coletor e consumidos pelo portal.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Falhas. </a:t>
            </a:r>
            <a:r>
              <a:rPr sz="1400">
                <a:solidFill>
                  <a:srgbClr val="444F66"/>
                </a:solidFill>
                <a:latin typeface="Calibri"/>
              </a:rPr>
              <a:t>Evento injetado aceito com HTTP 202 e visível como alarme crítico no portal.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A1. </a:t>
            </a:r>
            <a:r>
              <a:rPr sz="1400">
                <a:solidFill>
                  <a:srgbClr val="444F66"/>
                </a:solidFill>
                <a:latin typeface="Calibri"/>
              </a:rPr>
              <a:t>Política criada (201), confirmada no Near-RT RIC e removida (204).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400" b="1">
                <a:solidFill>
                  <a:srgbClr val="1F2A44"/>
                </a:solidFill>
                <a:latin typeface="Calibri"/>
              </a:rPr>
              <a:t>Ciclo de vida. </a:t>
            </a:r>
            <a:r>
              <a:rPr sz="1400">
                <a:solidFill>
                  <a:srgbClr val="444F66"/>
                </a:solidFill>
                <a:latin typeface="Calibri"/>
              </a:rPr>
              <a:t>Parada derruba o mountpoint O1; reinício restabelece por registro automático.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Resultado: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Treze passos concluídos, nenhuma falha.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Frente ao modelo de referência de SMO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A avaliação da Parte 1, agora com evidência de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7955279"/>
              </a:tblGrid>
              <a:tr h="43107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Parte 1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Observado na implementação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OAM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implementado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Confirmado. Núcleo maduro: configuração, coleta e falhas funcionam pela O1.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Non-RT RIC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implementado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Confirmado quanto a políticas A1. O rApp Manager exige o perfil Kubernetes.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TE&amp;IV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implementado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Parcialmente observado: topologia e capacidades vêm do controlador; o projeto TEIV não integra o perfil leve.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SA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Confirmado. Os dados existem; o fechamento da malha depende de uma rApp.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NFO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Confirmado. No perfil leve não há orquestrador de NF, apenas o ciclo de vida dos contêineres.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SO · FOCOM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não implementado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F66"/>
                          </a:solidFill>
                          <a:latin typeface="Calibri"/>
                        </a:rPr>
                        <a:t>Não observados. FOCOM depende do O-Cloud, que exige hardware dedicado.</a:t>
                      </a:r>
                    </a:p>
                  </a:txBody>
                  <a:tcPr marL="73152" marR="73152">
                    <a:solidFill>
                      <a:srgbClr val="E9EDF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nuance que a documentação não antecipa: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A distância entre "a plataforma implementa a função" e "a função está operacional após a instalação" é maior do que a documentação sugere.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Três leituras sobre os mecanismos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6868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3F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O núcleo é maduro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A cadeia que vai do registro por evento VES até a configuração por NETCONF opera sem intervenção manual, e o modelo de rede reage em segundos a mudanças de estado.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1772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2E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A fronteira está adiante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Elementos conectam sem reportar nada; não há KPI sem job de medição; não há política sem tipo carregado. Reconhecer essa fronteira é entender o que é operar um SMO.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366760" y="2103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43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O custo está na integração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0040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44F66"/>
                </a:solidFill>
                <a:latin typeface="Calibri"/>
              </a:rPr>
              <a:t>Os quatro problemas encontrados eram de montagem, não de função. É neles que o tempo de uma implantação real se concentra.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Entregue e reproduzível: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Pilha completa, portal de operação, scripts de verificação e relatório publicados em github.com/felipefavilla/smo-openran-parte2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3F5B8C"/>
                </a:solidFill>
                <a:latin typeface="Calibri"/>
              </a:rPr>
              <a:t>Fontes oficiais e repositório do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Gestão, Orquestração e Automação em Redes OpenRAN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92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Apresenta: Felipe Bartholo Favilla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C6B84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O-RAN SOFTWARE COMMUNITY. OAM — SMO Deployment and Configuration. docs.o-ran-sc.org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O-RAN SOFTWARE COMMUNITY. Repositórios oam, sim-o1-interface e nonrtric. github.com/o-ran-sc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O-RAN ALLIANCE. O-RAN Architecture Description. o-ran.org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IETF. RFC 6241 — NETCONF. RFC 8040 — RESTCONF Protocol.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ONAP. VES Collector — DCAE Gen2. docs.onap.org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3GPP. TS 28.552 — Management and orchestration; 5G performance measurements.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3F5B8C"/>
                </a:solidFill>
                <a:latin typeface="Calibri"/>
              </a:rPr>
              <a:t>•   </a:t>
            </a:r>
            <a:r>
              <a:rPr sz="1300">
                <a:solidFill>
                  <a:srgbClr val="444F66"/>
                </a:solidFill>
                <a:latin typeface="Calibri"/>
              </a:rPr>
              <a:t>FAVILLA, F. B. et al. Relatório — Parte 1: pesquisa, comparação e seleção de plataforma de SMO. CPQD,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Repositório: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74920"/>
            <a:ext cx="7680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DE3EE"/>
                </a:solidFill>
                <a:latin typeface="Calibri"/>
              </a:rPr>
              <a:t>github.com/felipefavilla/smo-openran-parte2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